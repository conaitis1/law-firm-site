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Lato" panose="020F0502020204030204" pitchFamily="34" charset="0"/>
      <p:regular r:id="rId12"/>
      <p:bold r:id="rId13"/>
      <p:italic r:id="rId14"/>
      <p:boldItalic r:id="rId15"/>
    </p:embeddedFont>
    <p:embeddedFont>
      <p:font typeface="Raleway" panose="020F0502020204030204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0C1662-FAA3-4678-8540-93E68C43A033}" v="1" dt="2025-08-14T16:49:03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ie Onaitis" userId="492bb9a8-487b-47b4-aa44-0dfd86d31f4a" providerId="ADAL" clId="{B70C1662-FAA3-4678-8540-93E68C43A033}"/>
    <pc:docChg chg="custSel modSld">
      <pc:chgData name="Charlie Onaitis" userId="492bb9a8-487b-47b4-aa44-0dfd86d31f4a" providerId="ADAL" clId="{B70C1662-FAA3-4678-8540-93E68C43A033}" dt="2025-08-14T16:49:03.925" v="4" actId="27636"/>
      <pc:docMkLst>
        <pc:docMk/>
      </pc:docMkLst>
      <pc:sldChg chg="modSp modNotes">
        <pc:chgData name="Charlie Onaitis" userId="492bb9a8-487b-47b4-aa44-0dfd86d31f4a" providerId="ADAL" clId="{B70C1662-FAA3-4678-8540-93E68C43A033}" dt="2025-08-14T16:49:03.841" v="0"/>
        <pc:sldMkLst>
          <pc:docMk/>
          <pc:sldMk cId="0" sldId="257"/>
        </pc:sldMkLst>
        <pc:spChg chg="mod">
          <ac:chgData name="Charlie Onaitis" userId="492bb9a8-487b-47b4-aa44-0dfd86d31f4a" providerId="ADAL" clId="{B70C1662-FAA3-4678-8540-93E68C43A033}" dt="2025-08-14T16:49:03.841" v="0"/>
          <ac:spMkLst>
            <pc:docMk/>
            <pc:sldMk cId="0" sldId="257"/>
            <ac:spMk id="93" creationId="{00000000-0000-0000-0000-000000000000}"/>
          </ac:spMkLst>
        </pc:spChg>
      </pc:sldChg>
      <pc:sldChg chg="modSp mod">
        <pc:chgData name="Charlie Onaitis" userId="492bb9a8-487b-47b4-aa44-0dfd86d31f4a" providerId="ADAL" clId="{B70C1662-FAA3-4678-8540-93E68C43A033}" dt="2025-08-14T16:49:03.889" v="1" actId="27636"/>
        <pc:sldMkLst>
          <pc:docMk/>
          <pc:sldMk cId="0" sldId="261"/>
        </pc:sldMkLst>
        <pc:spChg chg="mod">
          <ac:chgData name="Charlie Onaitis" userId="492bb9a8-487b-47b4-aa44-0dfd86d31f4a" providerId="ADAL" clId="{B70C1662-FAA3-4678-8540-93E68C43A033}" dt="2025-08-14T16:49:03.889" v="1" actId="27636"/>
          <ac:spMkLst>
            <pc:docMk/>
            <pc:sldMk cId="0" sldId="261"/>
            <ac:spMk id="115" creationId="{00000000-0000-0000-0000-000000000000}"/>
          </ac:spMkLst>
        </pc:spChg>
      </pc:sldChg>
      <pc:sldChg chg="modSp mod">
        <pc:chgData name="Charlie Onaitis" userId="492bb9a8-487b-47b4-aa44-0dfd86d31f4a" providerId="ADAL" clId="{B70C1662-FAA3-4678-8540-93E68C43A033}" dt="2025-08-14T16:49:03.905" v="2" actId="27636"/>
        <pc:sldMkLst>
          <pc:docMk/>
          <pc:sldMk cId="0" sldId="263"/>
        </pc:sldMkLst>
        <pc:spChg chg="mod">
          <ac:chgData name="Charlie Onaitis" userId="492bb9a8-487b-47b4-aa44-0dfd86d31f4a" providerId="ADAL" clId="{B70C1662-FAA3-4678-8540-93E68C43A033}" dt="2025-08-14T16:49:03.905" v="2" actId="27636"/>
          <ac:spMkLst>
            <pc:docMk/>
            <pc:sldMk cId="0" sldId="263"/>
            <ac:spMk id="125" creationId="{00000000-0000-0000-0000-000000000000}"/>
          </ac:spMkLst>
        </pc:spChg>
      </pc:sldChg>
      <pc:sldChg chg="modSp mod">
        <pc:chgData name="Charlie Onaitis" userId="492bb9a8-487b-47b4-aa44-0dfd86d31f4a" providerId="ADAL" clId="{B70C1662-FAA3-4678-8540-93E68C43A033}" dt="2025-08-14T16:49:03.925" v="4" actId="27636"/>
        <pc:sldMkLst>
          <pc:docMk/>
          <pc:sldMk cId="0" sldId="264"/>
        </pc:sldMkLst>
        <pc:spChg chg="mod">
          <ac:chgData name="Charlie Onaitis" userId="492bb9a8-487b-47b4-aa44-0dfd86d31f4a" providerId="ADAL" clId="{B70C1662-FAA3-4678-8540-93E68C43A033}" dt="2025-08-14T16:49:03.925" v="4" actId="27636"/>
          <ac:spMkLst>
            <pc:docMk/>
            <pc:sldMk cId="0" sldId="264"/>
            <ac:spMk id="131" creationId="{00000000-0000-0000-0000-000000000000}"/>
          </ac:spMkLst>
        </pc:spChg>
        <pc:spChg chg="mod">
          <ac:chgData name="Charlie Onaitis" userId="492bb9a8-487b-47b4-aa44-0dfd86d31f4a" providerId="ADAL" clId="{B70C1662-FAA3-4678-8540-93E68C43A033}" dt="2025-08-14T16:49:03.922" v="3" actId="27636"/>
          <ac:spMkLst>
            <pc:docMk/>
            <pc:sldMk cId="0" sldId="264"/>
            <ac:spMk id="13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477d68ddf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477d68ddf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477d68ddf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477d68ddf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477d68ddf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477d68ddf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477d68ddf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477d68ddf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477d68ddf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477d68ddf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477d68ddf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477d68ddf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477d68ddf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477d68ddf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477d68ddf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477d68ddf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3theanswer.com/dashboar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Science Internship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Charlie Onaitis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Website Overview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dirty="0">
                <a:hlinkClick r:id="rId3"/>
              </a:rPr>
              <a:t>C3 - The Answer</a:t>
            </a:r>
            <a:endParaRPr dirty="0"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5800" y="1492220"/>
            <a:ext cx="4610900" cy="259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452000" y="2196600"/>
            <a:ext cx="33150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model works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9888" y="1657025"/>
            <a:ext cx="3757937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580050" y="12597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start with past case data</a:t>
            </a:r>
            <a:b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combine legal details (like court, judge, type of violation) and financial details (like market cap drop, short %, revenue) for thousands of cases.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looks for patterns</a:t>
            </a:r>
            <a:b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train a “Random Forest” — which is basically a big group of “yes/no question” trees.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Each tree asks different questions in a different order, like: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“Was it in this court?” → “Was the market cap drop above 20%?” → “Was there an SEC action?”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the end of each tree, it gives its own guess on whether the case was Settled, Dismissed, or Other.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864375" y="1205825"/>
            <a:ext cx="6456000" cy="3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/>
              <a:t>Every tree gets a say</a:t>
            </a:r>
            <a:br>
              <a:rPr lang="en" sz="1200" b="1"/>
            </a:br>
            <a:r>
              <a:rPr lang="en" sz="1200"/>
              <a:t> When we predict a new case, we send it down </a:t>
            </a:r>
            <a:r>
              <a:rPr lang="en" sz="1200" i="1"/>
              <a:t>every</a:t>
            </a:r>
            <a:r>
              <a:rPr lang="en" sz="1200"/>
              <a:t> tree.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Each tree votes for an outcome</a:t>
            </a:r>
            <a:endParaRPr sz="12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We average all the votes to get final percentages for each possible outcome.</a:t>
            </a:r>
            <a:br>
              <a:rPr lang="en" sz="1200"/>
            </a:b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/>
              <a:t>The biggest patterns matter most</a:t>
            </a:r>
            <a:br>
              <a:rPr lang="en" sz="1200" b="1"/>
            </a:br>
            <a:r>
              <a:rPr lang="en" sz="1200"/>
              <a:t>If certain features (like SIC Code or SEC Action) show up near the top of many trees, they shape the result more.</a:t>
            </a:r>
            <a:br>
              <a:rPr lang="en" sz="1200"/>
            </a:br>
            <a:r>
              <a:rPr lang="en" sz="1200"/>
              <a:t>But smaller details can still tip the scales when combined with others.</a:t>
            </a:r>
            <a:br>
              <a:rPr lang="en" sz="1200"/>
            </a:b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b="1"/>
              <a:t>The prediction is based on similar situations</a:t>
            </a:r>
            <a:br>
              <a:rPr lang="en" sz="1200" b="1"/>
            </a:br>
            <a:r>
              <a:rPr lang="en" sz="1200"/>
              <a:t>The model doesn’t need an exact match from history. It looks at many </a:t>
            </a:r>
            <a:r>
              <a:rPr lang="en" sz="1200" i="1"/>
              <a:t>similar</a:t>
            </a:r>
            <a:r>
              <a:rPr lang="en" sz="1200"/>
              <a:t> cases and averages how they turned out.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727650" y="1545300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a less important feature can matter a lot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your chosen filters pin the case into a branch where the high-importance features are already fixed (e.g., SIC Code, Federal Court already decided), the model has to split on whatever’s left.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that smaller subgroup, a lower-importance feature might create a </a:t>
            </a:r>
            <a: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 purity drop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strongly influence the prediction for </a:t>
            </a:r>
            <a:r>
              <a:rPr lang="en" sz="11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subset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cases.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those situations, that feature can change the outcome significantly — even if, in the forest as a whole, it doesn’t matter much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569375" y="947700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45720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Less Important Features Still Matter</a:t>
            </a:r>
            <a:endParaRPr sz="1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Importance ≠ Always Relevant</a:t>
            </a:r>
            <a:b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low-importance feature means it </a:t>
            </a:r>
            <a:r>
              <a:rPr lang="en" sz="11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average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reduces uncertainty less than others — not that it’s useless.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 Matters</a:t>
            </a:r>
            <a:b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Once high-importance features (like SIC Code, Court) are fixed by filters, lower-importance features can become decisive.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Normally, “Transactional” has low importance. But if you’ve already fixed SIC Code = 3841 and Court = SDNY, “Transactional” might split the remaining cases cleanly and swing the prediction.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Takeaway:</a:t>
            </a:r>
            <a:b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Smaller features can matter a lot when the bigger ones are already locked in.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body" idx="1"/>
          </p:nvPr>
        </p:nvSpPr>
        <p:spPr>
          <a:xfrm>
            <a:off x="727650" y="1441200"/>
            <a:ext cx="8246700" cy="33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13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Predictions Change When Filters Change</a:t>
            </a:r>
            <a:endParaRPr sz="2131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283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53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Trees Are Always Used</a:t>
            </a:r>
            <a:br>
              <a:rPr lang="en" sz="153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filters don’t remove trees — they just change the path your case takes down each one.</a:t>
            </a:r>
            <a:br>
              <a:rPr lang="en" sz="15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3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28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53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 Changes = Leaf Changes</a:t>
            </a:r>
            <a:br>
              <a:rPr lang="en" sz="153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filter tweak can send your case into a different “leaf” in many trees, where the settlement/dismissal percentages are different.</a:t>
            </a:r>
            <a:br>
              <a:rPr lang="en" sz="15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3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28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53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of Votes Changes</a:t>
            </a:r>
            <a:br>
              <a:rPr lang="en" sz="153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tree’s leaf “votes” for an outcome. Change enough leaves → the average outcome shifts.</a:t>
            </a:r>
            <a:br>
              <a:rPr lang="en" sz="15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3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28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53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Insight:</a:t>
            </a:r>
            <a:br>
              <a:rPr lang="en" sz="153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 if the filters seem small, they can push the case into a very different set of similar historical cases.</a:t>
            </a:r>
            <a:endParaRPr sz="153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Notable Findings</a:t>
            </a:r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body" idx="1"/>
          </p:nvPr>
        </p:nvSpPr>
        <p:spPr>
          <a:xfrm>
            <a:off x="604175" y="1853850"/>
            <a:ext cx="3842700" cy="30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SEC Action as yes: 92% settlement rate (53 cases)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Phase 3 Cases: 82% dismissal rate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Proposed transaction cases: 93% Dismissal Rate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Delaware Federal Court has 95% dismissal Rate (406 cases)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Massachusetts Federal Court has 81% dismissal Rate (132 cases)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/>
          </a:p>
        </p:txBody>
      </p:sp>
      <p:sp>
        <p:nvSpPr>
          <p:cNvPr id="132" name="Google Shape;132;p21"/>
          <p:cNvSpPr txBox="1">
            <a:spLocks noGrp="1"/>
          </p:cNvSpPr>
          <p:nvPr>
            <p:ph type="body" idx="1"/>
          </p:nvPr>
        </p:nvSpPr>
        <p:spPr>
          <a:xfrm>
            <a:off x="4446875" y="1853850"/>
            <a:ext cx="4350000" cy="28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Judge Leonard P. Stark has 96% dismissal rate (92 cases)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Judge Richard G. Andrews has 93% dismissal Rate (91 cases)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Colm F. Connelly has 100%  dismissal rate (79 cases)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Maryellen Noreika has 97% dismissal Rate (76 cases)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Microsoft Office PowerPoint</Application>
  <PresentationFormat>On-screen Show (16:9)</PresentationFormat>
  <Paragraphs>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Raleway</vt:lpstr>
      <vt:lpstr>Arial</vt:lpstr>
      <vt:lpstr>Lato</vt:lpstr>
      <vt:lpstr>Streamline</vt:lpstr>
      <vt:lpstr>Data Science Internship</vt:lpstr>
      <vt:lpstr>Website Overview</vt:lpstr>
      <vt:lpstr>How the model 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Notable Findings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Charlie Onaitis</cp:lastModifiedBy>
  <cp:revision>1</cp:revision>
  <dcterms:modified xsi:type="dcterms:W3CDTF">2025-08-14T16:49:14Z</dcterms:modified>
</cp:coreProperties>
</file>